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5601640-a0d4-c4fe-e7e6-06156abbeb80}">
          <p14:sldIdLst>
            <p14:sldId id="256"/>
            <p14:sldId id="257"/>
          </p14:sldIdLst>
        </p14:section>
        <p14:section name="System" id="{1daeb8b3-cc5b-d15f-e890-4d566f0e1e91}">
          <p14:sldIdLst>
            <p14:sldId id="258"/>
            <p14:sldId id="259"/>
            <p14:sldId id="260"/>
          </p14:sldIdLst>
        </p14:section>
        <p14:section name="Demo" id="{2ff886c9-229c-5c85-ad8d-b45e6d243e02}">
          <p14:sldIdLst>
            <p14:sldId id="261"/>
            <p14:sldId id="262"/>
            <p14:sldId id="263"/>
            <p14:sldId id="264"/>
          </p14:sldIdLst>
        </p14:section>
        <p14:section name="Wrap-up" id="{18ce9fb6-304d-a60b-a5cc-0490bc30c23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4748B"/>
                </a:solidFill>
                <a:latin typeface="+mn-lt"/>
              </a:rPr>
              <a:t>จำนวนเพื่อนที่เลือกเมนูนั้น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จำนวนเพื่อนที่เลือก</c:v>
                </c:pt>
              </c:strCache>
            </c:strRef>
          </c:tx>
          <c:spPr>
            <a:solidFill>
              <a:srgbClr val="1F7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2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Stir-fried Mixed Veg.</c:v>
                  </c:pt>
                  <c:pt idx="1">
                    <c:v>Pad Thai</c:v>
                  </c:pt>
                  <c:pt idx="2">
                    <c:v>Crab Fried Rice</c:v>
                  </c:pt>
                  <c:pt idx="3">
                    <c:v>Papaya Salad</c:v>
                  </c:pt>
                  <c:pt idx="4">
                    <c:v>Massaman Curry</c:v>
                  </c:pt>
                  <c:pt idx="5">
                    <c:v>Khao Soi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2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2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recommendation_hub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recommendationapp-ivqnbkxyauwkr83jjz7r2a.streamlit.app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FOOD RECOMMENDATION · NEO4J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recommendation_hub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accent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ระบบแนะนำเมนูอาหารจากเพื่อน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accent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 Neo4j Graph Database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เนติภัทร์ ใจเด็ด  ·  664245020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 ·  Neo4j  ·  Python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64374" y="1515618"/>
            <a:ext cx="1104138" cy="57835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H="1">
            <a:off x="10140696" y="1620774"/>
            <a:ext cx="1314450" cy="120929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H="1">
            <a:off x="7984998" y="3566160"/>
            <a:ext cx="52578" cy="1524762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H="1">
            <a:off x="7984998" y="4197096"/>
            <a:ext cx="1524762" cy="893826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981944" y="4091940"/>
            <a:ext cx="52578" cy="120929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509760" y="4197096"/>
            <a:ext cx="1524762" cy="110413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H="1">
            <a:off x="10981944" y="1620774"/>
            <a:ext cx="473202" cy="2471166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668512" y="2093976"/>
            <a:ext cx="1472184" cy="7360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8037576" y="2093976"/>
            <a:ext cx="630936" cy="147218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9509760" y="2830068"/>
            <a:ext cx="630936" cy="136702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7576" y="3566160"/>
            <a:ext cx="1472184" cy="630936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9509760" y="4091940"/>
            <a:ext cx="1472184" cy="105156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0696" y="2830068"/>
            <a:ext cx="841248" cy="126187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68512" y="2093976"/>
            <a:ext cx="841248" cy="21031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4075" y="1799539"/>
            <a:ext cx="588874" cy="58887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46259" y="2535631"/>
            <a:ext cx="588874" cy="58887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43139" y="3271723"/>
            <a:ext cx="588874" cy="58887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5323" y="3902659"/>
            <a:ext cx="588874" cy="58887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87507" y="3797503"/>
            <a:ext cx="588874" cy="58887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86016" y="1357884"/>
            <a:ext cx="1156716" cy="315468"/>
          </a:xfrm>
          <a:prstGeom prst="roundRect">
            <a:avLst>
              <a:gd name="adj" fmla="val 2898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Khao Soi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876788" y="1463040"/>
            <a:ext cx="1156716" cy="315468"/>
          </a:xfrm>
          <a:prstGeom prst="roundRect">
            <a:avLst>
              <a:gd name="adj" fmla="val 2898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Pad Thai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4933188"/>
            <a:ext cx="1156716" cy="315468"/>
          </a:xfrm>
          <a:prstGeom prst="roundRect">
            <a:avLst>
              <a:gd name="adj" fmla="val 2898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Green Curry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456164" y="5143500"/>
            <a:ext cx="1156716" cy="315468"/>
          </a:xfrm>
          <a:prstGeom prst="roundRect">
            <a:avLst>
              <a:gd name="adj" fmla="val 2898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Som Tam</a:t>
            </a:r>
            <a:endParaRPr lang="en-US" sz="900" dirty="0"/>
          </a:p>
        </p:txBody>
      </p:sp>
      <p:sp>
        <p:nvSpPr>
          <p:cNvPr id="30" name="Text 0"/>
          <p:cNvSpPr/>
          <p:nvPr>
            <p:ph idx="101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— 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ภาพรวมโปรเจกต์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รวมงาน 4 ชิ้นไว้ในเว็บเดียว ตั้งแต่การบ้านเรื่องกราฟ ไปจนถึงแอปแนะนำอาหารที่ใช้งานได้จริง</a:t>
            </a:r>
            <a:endParaRPr lang="en-US" sz="1500" dirty="0"/>
          </a:p>
        </p:txBody>
      </p:sp>
      <p:sp>
        <p:nvSpPr>
          <p:cNvPr id="5" name="card 1"/>
          <p:cNvSpPr/>
          <p:nvPr/>
        </p:nvSpPr>
        <p:spPr>
          <a:xfrm>
            <a:off x="548640" y="2377440"/>
            <a:ext cx="2606040" cy="35204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CLUB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ระบบชมรม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 Neo4j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นักศึกษา ชมรม ความสัมพันธ์ และคำสั่ง Cypher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· Cypher</a:t>
            </a:r>
            <a:endParaRPr lang="en-US" sz="1000" dirty="0"/>
          </a:p>
        </p:txBody>
      </p:sp>
      <p:sp>
        <p:nvSpPr>
          <p:cNvPr id="10" name="card 2"/>
          <p:cNvSpPr/>
          <p:nvPr/>
        </p:nvSpPr>
        <p:spPr>
          <a:xfrm>
            <a:off x="3367735" y="2377440"/>
            <a:ext cx="2606040" cy="35204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42055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GRAPH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42055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อาหาร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 Graph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42055" y="4160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สร้างกราฟผู้ใช้กับอาหาร เพื่อสำรวจความชอบ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42055" y="5349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NetworkX</a:t>
            </a:r>
            <a:endParaRPr lang="en-US" sz="1000" dirty="0"/>
          </a:p>
        </p:txBody>
      </p:sp>
      <p:sp>
        <p:nvSpPr>
          <p:cNvPr id="15" name="card 3"/>
          <p:cNvSpPr/>
          <p:nvPr/>
        </p:nvSpPr>
        <p:spPr>
          <a:xfrm>
            <a:off x="6186830" y="2377440"/>
            <a:ext cx="2606040" cy="35204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150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NEO4J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61150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อาหาร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 Neo4j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61150" y="4160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วิเคราะห์ความสัมพันธ์และแนะนำอาหารบนฐานข้อมูลกราฟ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61150" y="5349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· Colab</a:t>
            </a:r>
            <a:endParaRPr lang="en-US" sz="1000" dirty="0"/>
          </a:p>
        </p:txBody>
      </p:sp>
      <p:sp>
        <p:nvSpPr>
          <p:cNvPr id="20" name="card 4"/>
          <p:cNvSpPr/>
          <p:nvPr/>
        </p:nvSpPr>
        <p:spPr>
          <a:xfrm>
            <a:off x="9005926" y="2377440"/>
            <a:ext cx="2606040" cy="352044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80246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APP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280246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อาหาร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280246" y="4160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เว็บแอปที่เลือกผู้ใช้ จัดการข้อมูล และดูกราฟได้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80246" y="5349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— HUB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หน้ารวมงาน</a:t>
            </a:r>
            <a:endParaRPr lang="en-US" sz="3000" dirty="0"/>
          </a:p>
        </p:txBody>
      </p:sp>
      <p:sp>
        <p:nvSpPr>
          <p:cNvPr id="4" name="Hub page screenshot frame"/>
          <p:cNvSpPr/>
          <p:nvPr/>
        </p:nvSpPr>
        <p:spPr>
          <a:xfrm>
            <a:off x="792328" y="1691640"/>
            <a:ext cx="10607040" cy="441960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10000"/>
              </a:srgbClr>
            </a:outerShdw>
          </a:effectLst>
        </p:spPr>
      </p:sp>
      <p:pic>
        <p:nvPicPr>
          <p:cNvPr id="5" name="Hub page screenshot" descr="Hub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691640"/>
            <a:ext cx="10607040" cy="4419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— GRAPH MODEL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โครงสร้างข้อมูลแบบกราฟ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554480" cy="1554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:Person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2103120"/>
            <a:ext cx="1554480" cy="1554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:Person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4617720"/>
            <a:ext cx="1554480" cy="868680"/>
          </a:xfrm>
          <a:prstGeom prst="roundRect">
            <a:avLst>
              <a:gd name="adj" fmla="val 157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4727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เมนูอาหาร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5074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2880360"/>
            <a:ext cx="210312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0312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เป็นเพื่อนกัน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54480" y="3566160"/>
            <a:ext cx="1280160" cy="105156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3657600" y="3566160"/>
            <a:ext cx="1280160" cy="105156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4864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</a:t>
            </a:r>
            <a:endParaRPr lang="en-US" sz="1200" dirty="0"/>
          </a:p>
        </p:txBody>
      </p:sp>
      <p:sp>
        <p:nvSpPr>
          <p:cNvPr id="19" name="stat 1"/>
          <p:cNvSpPr/>
          <p:nvPr/>
        </p:nvSpPr>
        <p:spPr>
          <a:xfrm>
            <a:off x="6675120" y="192024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194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 (Person)</a:t>
            </a:r>
            <a:endParaRPr lang="en-US" sz="1300" dirty="0"/>
          </a:p>
        </p:txBody>
      </p:sp>
      <p:sp>
        <p:nvSpPr>
          <p:cNvPr id="22" name="stat 2"/>
          <p:cNvSpPr/>
          <p:nvPr/>
        </p:nvSpPr>
        <p:spPr>
          <a:xfrm>
            <a:off x="9235440" y="192024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09760" y="2194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48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เมนูอาหาร (Food)</a:t>
            </a:r>
            <a:endParaRPr lang="en-US" sz="1300" dirty="0"/>
          </a:p>
        </p:txBody>
      </p:sp>
      <p:sp>
        <p:nvSpPr>
          <p:cNvPr id="25" name="stat 3"/>
          <p:cNvSpPr/>
          <p:nvPr/>
        </p:nvSpPr>
        <p:spPr>
          <a:xfrm>
            <a:off x="6675120" y="406908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343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38</a:t>
            </a:r>
            <a:endParaRPr lang="en-US" sz="48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5303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ความเป็นเพื่อน</a:t>
            </a:r>
            <a:endParaRPr lang="en-US" sz="1300" dirty="0"/>
          </a:p>
        </p:txBody>
      </p:sp>
      <p:sp>
        <p:nvSpPr>
          <p:cNvPr id="28" name="stat 4"/>
          <p:cNvSpPr/>
          <p:nvPr/>
        </p:nvSpPr>
        <p:spPr>
          <a:xfrm>
            <a:off x="9235440" y="406908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09760" y="4343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</a:t>
            </a:r>
            <a:endParaRPr lang="en-US" sz="48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5303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การเลือกอาหาร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— LOGIC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หลักการแนะนำอาหาร</a:t>
            </a:r>
            <a:endParaRPr lang="en-US" sz="3000" dirty="0"/>
          </a:p>
        </p:txBody>
      </p:sp>
      <p:sp>
        <p:nvSpPr>
          <p:cNvPr id="4" name="step 01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เลือกผู้ใช้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เช่น Alice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468880"/>
            <a:ext cx="304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tep 02"/>
          <p:cNvSpPr/>
          <p:nvPr/>
        </p:nvSpPr>
        <p:spPr>
          <a:xfrm>
            <a:off x="3367735" y="18288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42055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42055" y="2514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หาเพื่อน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42055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เดินตามเส้นความเป็นเพื่อนในกราฟ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28055" y="2468880"/>
            <a:ext cx="304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tep 03"/>
          <p:cNvSpPr/>
          <p:nvPr/>
        </p:nvSpPr>
        <p:spPr>
          <a:xfrm>
            <a:off x="6186830" y="18288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15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61150" y="2514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ดูเมนูของเพื่อน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61150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เมนูที่เพื่อนแต่ละคนเลือกไว้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47150" y="2468880"/>
            <a:ext cx="304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tep 04"/>
          <p:cNvSpPr/>
          <p:nvPr/>
        </p:nvSpPr>
        <p:spPr>
          <a:xfrm>
            <a:off x="9005926" y="18288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0246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80246" y="2514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แนะนำเมนูใหม่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80246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พร้อมบอกว่าเพื่อนคนไหนเลือก</a:t>
            </a:r>
            <a:endParaRPr lang="en-US" sz="1100" dirty="0"/>
          </a:p>
        </p:txBody>
      </p:sp>
      <p:sp>
        <p:nvSpPr>
          <p:cNvPr id="23" name="cypher block"/>
          <p:cNvSpPr/>
          <p:nvPr/>
        </p:nvSpPr>
        <p:spPr>
          <a:xfrm>
            <a:off x="548640" y="3977640"/>
            <a:ext cx="11064240" cy="2240280"/>
          </a:xfrm>
          <a:prstGeom prst="roundRect">
            <a:avLst>
              <a:gd name="adj" fmla="val 4082"/>
            </a:avLst>
          </a:prstGeom>
          <a:solidFill>
            <a:srgbClr val="060B14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CYPHER · ตัวอย่างแนวคิด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(me:Person {name:'Alice'})-[:FRIEND]-(f:Person)-[:CHOSE]-&gt;(food:Food)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(me)-[:CHOSE]-&gt;(food)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food.name, collect(f.name) AS friends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size(friends) DESC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— RECOMMEND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หน้าแนะนำอาหาร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922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เลือกชื่อผู้ใช้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1579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dropdown แล้วกดรีเฟรช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712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เห็นเพื่อนทั้งหมด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369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Alice มีเพื่อน 8 คน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502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รับเมนูแนะนำ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15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พบ 6 เมนู พร้อมรูปและชื่อเพื่อน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29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กดเลือกอาหาร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394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บันทึกการเลือกกลับลงกราฟ</a:t>
            </a:r>
            <a:endParaRPr lang="en-US" sz="1100" dirty="0"/>
          </a:p>
        </p:txBody>
      </p:sp>
      <p:sp>
        <p:nvSpPr>
          <p:cNvPr id="20" name="Recommendation page screenshot frame"/>
          <p:cNvSpPr/>
          <p:nvPr/>
        </p:nvSpPr>
        <p:spPr>
          <a:xfrm>
            <a:off x="4114800" y="1828800"/>
            <a:ext cx="7498080" cy="3724774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10000"/>
              </a:srgbClr>
            </a:outerShdw>
          </a:effectLst>
        </p:spPr>
      </p:sp>
      <p:pic>
        <p:nvPicPr>
          <p:cNvPr id="21" name="Recommendation page screenshot" descr="Recommendation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0"/>
            <a:ext cx="7498080" cy="372477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— RESULT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ผลแนะนำสำหรับ Alice</a:t>
            </a:r>
            <a:endParaRPr lang="en-US" sz="3000" dirty="0"/>
          </a:p>
        </p:txBody>
      </p:sp>
      <p:graphicFrame>
        <p:nvGraphicFramePr>
          <p:cNvPr id="4" name="result chart" descr=""/>
          <p:cNvGraphicFramePr/>
          <p:nvPr/>
        </p:nvGraphicFramePr>
        <p:xfrm>
          <a:off x="548640" y="1737360"/>
          <a:ext cx="60350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who chose panel"/>
          <p:cNvSpPr/>
          <p:nvPr/>
        </p:nvSpPr>
        <p:spPr>
          <a:xfrm>
            <a:off x="6949440" y="1737360"/>
            <a:ext cx="46634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6948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เพื่อนที่เลือก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Khao Soi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27340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· David · James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3054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Massaman Curry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33192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Emma · David · Laura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3639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Papaya Salad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· Sarah · James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4224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Crab Fried Rice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44897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Emma · Sarah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48097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Pad Thai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5074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· Michael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5394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Stir-fried Mixed Vegetables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56601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Michael · Laura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— MANAGE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จัดการข้อมูลคนและอาหาร</a:t>
            </a:r>
            <a:endParaRPr lang="en-US" sz="3000" dirty="0"/>
          </a:p>
        </p:txBody>
      </p:sp>
      <p:sp>
        <p:nvSpPr>
          <p:cNvPr id="4" name="จัดการคน screenshot frame"/>
          <p:cNvSpPr/>
          <p:nvPr/>
        </p:nvSpPr>
        <p:spPr>
          <a:xfrm>
            <a:off x="548640" y="1828800"/>
            <a:ext cx="5394960" cy="2680021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10000"/>
              </a:srgbClr>
            </a:outerShdw>
          </a:effectLst>
        </p:spPr>
      </p:sp>
      <p:pic>
        <p:nvPicPr>
          <p:cNvPr id="5" name="จัดการคน screenshot" descr="จัดการคน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394960" cy="2680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828861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จัดการคน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22053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เพิ่มคน · เพิ่มเพื่อน · ลบข้อมูล</a:t>
            </a:r>
            <a:endParaRPr lang="en-US" sz="1200" dirty="0"/>
          </a:p>
        </p:txBody>
      </p:sp>
      <p:sp>
        <p:nvSpPr>
          <p:cNvPr id="8" name="จัดการอาหาร screenshot frame"/>
          <p:cNvSpPr/>
          <p:nvPr/>
        </p:nvSpPr>
        <p:spPr>
          <a:xfrm>
            <a:off x="6217920" y="1828800"/>
            <a:ext cx="5394960" cy="2680021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10000"/>
              </a:srgbClr>
            </a:outerShdw>
          </a:effectLst>
        </p:spPr>
      </p:sp>
      <p:pic>
        <p:nvPicPr>
          <p:cNvPr id="9" name="จัดการอาหาร screenshot" descr="จัดการอาหาร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94960" cy="26800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17920" y="4828861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จัดการอาหาร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217920" y="5222053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ดูเมนูทั้งหมด 10 เมนู พร้อมรูปภาพ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— VISUALIZE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กราฟความสัมพันธ์ในแอป</a:t>
            </a:r>
            <a:endParaRPr lang="en-US" sz="3000" dirty="0"/>
          </a:p>
        </p:txBody>
      </p:sp>
      <p:sp>
        <p:nvSpPr>
          <p:cNvPr id="4" name="Graph page screenshot frame"/>
          <p:cNvSpPr/>
          <p:nvPr/>
        </p:nvSpPr>
        <p:spPr>
          <a:xfrm>
            <a:off x="3749040" y="1828800"/>
            <a:ext cx="7863840" cy="3906471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10000"/>
              </a:srgbClr>
            </a:outerShdw>
          </a:effectLst>
        </p:spPr>
      </p:sp>
      <p:pic>
        <p:nvPicPr>
          <p:cNvPr id="5" name="Graph page screenshot" descr="Graph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828800"/>
            <a:ext cx="7863840" cy="39064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8016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วงกลมสีฟ้า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834640"/>
            <a:ext cx="548640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0160" y="2724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เมนูอาหาร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กล่องสีเหลือง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3858768"/>
            <a:ext cx="54864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80160" y="3593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ความเป็นเพื่อน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เส้นทึบ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4727448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1280160" y="4462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การเลือกอาหาร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4754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เส้นประ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40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ไฮไลต์คนที่สนใจได้ และเลือกแสดงหรือซ่อนเส้นการเลือก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— STACK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เครื่องมือที่ใช้</a:t>
            </a:r>
            <a:endParaRPr lang="en-US" sz="3000" dirty="0"/>
          </a:p>
        </p:txBody>
      </p:sp>
      <p:sp>
        <p:nvSpPr>
          <p:cNvPr id="4" name="stack Neo4j"/>
          <p:cNvSpPr/>
          <p:nvPr/>
        </p:nvSpPr>
        <p:spPr>
          <a:xfrm>
            <a:off x="548640" y="182880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ฐานข้อมูลกราฟ เก็บคน อาหาร และความสัมพันธ์</a:t>
            </a:r>
            <a:endParaRPr lang="en-US" sz="1200" dirty="0"/>
          </a:p>
        </p:txBody>
      </p:sp>
      <p:sp>
        <p:nvSpPr>
          <p:cNvPr id="8" name="stack Cypher"/>
          <p:cNvSpPr/>
          <p:nvPr/>
        </p:nvSpPr>
        <p:spPr>
          <a:xfrm>
            <a:off x="4297680" y="182880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Cypher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ภาษา query สำหรับค้นหาและแนะนำ</a:t>
            </a:r>
            <a:endParaRPr lang="en-US" sz="1200" dirty="0"/>
          </a:p>
        </p:txBody>
      </p:sp>
      <p:sp>
        <p:nvSpPr>
          <p:cNvPr id="12" name="stack Python"/>
          <p:cNvSpPr/>
          <p:nvPr/>
        </p:nvSpPr>
        <p:spPr>
          <a:xfrm>
            <a:off x="8046720" y="182880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เขียนตรรกะและเชื่อมต่อฐานข้อมูล</a:t>
            </a:r>
            <a:endParaRPr lang="en-US" sz="1200" dirty="0"/>
          </a:p>
        </p:txBody>
      </p:sp>
      <p:sp>
        <p:nvSpPr>
          <p:cNvPr id="16" name="stack NetworkX"/>
          <p:cNvSpPr/>
          <p:nvPr/>
        </p:nvSpPr>
        <p:spPr>
          <a:xfrm>
            <a:off x="548640" y="397764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NetworkX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สร้างและวิเคราะห์กราฟในการบ้าน</a:t>
            </a:r>
            <a:endParaRPr lang="en-US" sz="1200" dirty="0"/>
          </a:p>
        </p:txBody>
      </p:sp>
      <p:sp>
        <p:nvSpPr>
          <p:cNvPr id="20" name="stack Streamlit"/>
          <p:cNvSpPr/>
          <p:nvPr/>
        </p:nvSpPr>
        <p:spPr>
          <a:xfrm>
            <a:off x="4297680" y="397764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สร้างเว็บแอปและ deploy ออนไลน์</a:t>
            </a:r>
            <a:endParaRPr lang="en-US" sz="1200" dirty="0"/>
          </a:p>
        </p:txBody>
      </p:sp>
      <p:sp>
        <p:nvSpPr>
          <p:cNvPr id="24" name="stack GitHub · Colab"/>
          <p:cNvSpPr/>
          <p:nvPr/>
        </p:nvSpPr>
        <p:spPr>
          <a:xfrm>
            <a:off x="8046720" y="397764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· Colab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เก็บโค้ดและ notebook ของแต่ละงาน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ลองใช้งาน</a:t>
            </a:r>
            <a:endParaRPr lang="en-US" sz="12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548640" y="5212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recommendationapp-ivqnbkxyauwkr83jjz7r2a.streamlit.app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เนติภัทร์ ใจเด็ด  ·  664245020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64374" y="1515618"/>
            <a:ext cx="1104138" cy="57835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H="1">
            <a:off x="10140696" y="1620774"/>
            <a:ext cx="1314450" cy="120929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H="1">
            <a:off x="7984998" y="3566160"/>
            <a:ext cx="52578" cy="1524762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H="1">
            <a:off x="7984998" y="4197096"/>
            <a:ext cx="1524762" cy="893826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981944" y="4091940"/>
            <a:ext cx="52578" cy="120929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509760" y="4197096"/>
            <a:ext cx="1524762" cy="110413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H="1">
            <a:off x="10981944" y="1620774"/>
            <a:ext cx="473202" cy="2471166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668512" y="2093976"/>
            <a:ext cx="1472184" cy="7360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8037576" y="2093976"/>
            <a:ext cx="630936" cy="147218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9509760" y="2830068"/>
            <a:ext cx="630936" cy="136702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3566160"/>
            <a:ext cx="1472184" cy="630936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9509760" y="4091940"/>
            <a:ext cx="1472184" cy="105156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0696" y="2830068"/>
            <a:ext cx="841248" cy="126187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68512" y="2093976"/>
            <a:ext cx="841248" cy="21031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74075" y="1799539"/>
            <a:ext cx="588874" cy="58887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46259" y="2535631"/>
            <a:ext cx="588874" cy="58887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43139" y="3271723"/>
            <a:ext cx="588874" cy="58887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15323" y="3902659"/>
            <a:ext cx="588874" cy="58887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87507" y="3797503"/>
            <a:ext cx="588874" cy="58887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86016" y="1357884"/>
            <a:ext cx="1156716" cy="315468"/>
          </a:xfrm>
          <a:prstGeom prst="roundRect">
            <a:avLst>
              <a:gd name="adj" fmla="val 2898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Khao Soi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876788" y="1463040"/>
            <a:ext cx="1156716" cy="315468"/>
          </a:xfrm>
          <a:prstGeom prst="roundRect">
            <a:avLst>
              <a:gd name="adj" fmla="val 2898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Pad Thai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4933188"/>
            <a:ext cx="1156716" cy="315468"/>
          </a:xfrm>
          <a:prstGeom prst="roundRect">
            <a:avLst>
              <a:gd name="adj" fmla="val 2898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Green Curry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456164" y="5143500"/>
            <a:ext cx="1156716" cy="315468"/>
          </a:xfrm>
          <a:prstGeom prst="roundRect">
            <a:avLst>
              <a:gd name="adj" fmla="val 2898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Som Tam</a:t>
            </a:r>
            <a:endParaRPr lang="en-US" sz="900" dirty="0"/>
          </a:p>
        </p:txBody>
      </p:sp>
      <p:sp>
        <p:nvSpPr>
          <p:cNvPr id="31" name="Text 0"/>
          <p:cNvSpPr/>
          <p:nvPr>
            <p:ph idx="101" type="title" hasCustomPrompt="1"/>
          </p:nvPr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mmendation Hub">
  <a:themeElements>
    <a:clrScheme name="Recommendation Hub">
      <a:dk1>
        <a:srgbClr val="0B1220"/>
      </a:dk1>
      <a:lt1>
        <a:srgbClr val="FFFFFF"/>
      </a:lt1>
      <a:dk2>
        <a:srgbClr val="1E293B"/>
      </a:dk2>
      <a:lt2>
        <a:srgbClr val="F1F5F9"/>
      </a:lt2>
      <a:accent1>
        <a:srgbClr val="1F7FA8"/>
      </a:accent1>
      <a:accent2>
        <a:srgbClr val="F26B5B"/>
      </a:accent2>
      <a:accent3>
        <a:srgbClr val="2BB3C0"/>
      </a:accent3>
      <a:accent4>
        <a:srgbClr val="64748B"/>
      </a:accent4>
      <a:accent5>
        <a:srgbClr val="FFD27A"/>
      </a:accent5>
      <a:accent6>
        <a:srgbClr val="B6D4FA"/>
      </a:accent6>
      <a:hlink>
        <a:srgbClr val="1F7FA8"/>
      </a:hlink>
      <a:folHlink>
        <a:srgbClr val="64748B"/>
      </a:folHlink>
    </a:clrScheme>
    <a:fontScheme name="Recommendation Hub">
      <a:majorFont>
        <a:latin typeface="Tahoma"/>
        <a:ea typeface=""/>
        <a:cs typeface="Tahoma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Tahoma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recommendation_hub</dc:title>
  <dc:subject>PptxGenJS Presentation</dc:subject>
  <dc:creator>เนติภัทร์ ใจเด็ด</dc:creator>
  <cp:lastModifiedBy>เนติภัทร์ ใจเด็ด</cp:lastModifiedBy>
  <cp:revision>1</cp:revision>
  <dcterms:created xsi:type="dcterms:W3CDTF">2026-10-02T07:16:13Z</dcterms:created>
  <dcterms:modified xsi:type="dcterms:W3CDTF">2026-10-02T07:16:13Z</dcterms:modified>
</cp:coreProperties>
</file>